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04c8f1c014f5f" /><Relationship Type="http://schemas.openxmlformats.org/officeDocument/2006/relationships/extended-properties" Target="/docProps/app.xml" Id="Rf7c05b0e84a6443f" /><Relationship Type="http://schemas.openxmlformats.org/officeDocument/2006/relationships/officeDocument" Target="/ppt/presentation.xml" Id="R27ffacd01b17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63c6a08f54789"/>
  </p:sldMasterIdLst>
  <p:notesMasterIdLst>
    <p:notesMasterId xmlns:r="http://schemas.openxmlformats.org/officeDocument/2006/relationships" r:id="R3729978e7afe452e"/>
  </p:notesMasterIdLst>
  <p:sldIdLst>
    <p:sldId xmlns:r="http://schemas.openxmlformats.org/officeDocument/2006/relationships" id="256" r:id="R0f601760eeb74aaf"/>
    <p:sldId xmlns:r="http://schemas.openxmlformats.org/officeDocument/2006/relationships" id="257" r:id="R36d8bc9d9c2242ea"/>
    <p:sldId xmlns:r="http://schemas.openxmlformats.org/officeDocument/2006/relationships" id="258" r:id="R36ed4e5a10f54a86"/>
    <p:sldId xmlns:r="http://schemas.openxmlformats.org/officeDocument/2006/relationships" id="259" r:id="Rd524d81dc9374517"/>
    <p:sldId xmlns:r="http://schemas.openxmlformats.org/officeDocument/2006/relationships" id="260" r:id="Rb863f6edb60f4963"/>
    <p:sldId xmlns:r="http://schemas.openxmlformats.org/officeDocument/2006/relationships" id="261" r:id="R09ca37fff7cb4d42"/>
    <p:sldId xmlns:r="http://schemas.openxmlformats.org/officeDocument/2006/relationships" id="262" r:id="R5918be2c499c4cd8"/>
    <p:sldId xmlns:r="http://schemas.openxmlformats.org/officeDocument/2006/relationships" id="263" r:id="R6f6d1bcebcef4633"/>
    <p:sldId xmlns:r="http://schemas.openxmlformats.org/officeDocument/2006/relationships" id="264" r:id="R1c3eac2ff16b43b8"/>
    <p:sldId xmlns:r="http://schemas.openxmlformats.org/officeDocument/2006/relationships" id="265" r:id="R36dbe581cf0f4fdf"/>
    <p:sldId xmlns:r="http://schemas.openxmlformats.org/officeDocument/2006/relationships" id="266" r:id="Rbf49ee77017342ac"/>
    <p:sldId xmlns:r="http://schemas.openxmlformats.org/officeDocument/2006/relationships" id="267" r:id="R2de7842cecba4a33"/>
    <p:sldId xmlns:r="http://schemas.openxmlformats.org/officeDocument/2006/relationships" id="268" r:id="R16b47a6e0eef40ad"/>
    <p:sldId xmlns:r="http://schemas.openxmlformats.org/officeDocument/2006/relationships" id="269" r:id="R8b0632efe0104f90"/>
    <p:sldId xmlns:r="http://schemas.openxmlformats.org/officeDocument/2006/relationships" id="270" r:id="Rfdf44a0ddced4cb9"/>
    <p:sldId xmlns:r="http://schemas.openxmlformats.org/officeDocument/2006/relationships" id="271" r:id="R3067e72b95f240d9"/>
    <p:sldId xmlns:r="http://schemas.openxmlformats.org/officeDocument/2006/relationships" id="272" r:id="R579f47dc7c414e5e"/>
    <p:sldId xmlns:r="http://schemas.openxmlformats.org/officeDocument/2006/relationships" id="273" r:id="Rd8d1b75db4564342"/>
    <p:sldId xmlns:r="http://schemas.openxmlformats.org/officeDocument/2006/relationships" id="274" r:id="R23ce61894ad5467d"/>
    <p:sldId xmlns:r="http://schemas.openxmlformats.org/officeDocument/2006/relationships" id="275" r:id="R1a02b22566974a29"/>
    <p:sldId xmlns:r="http://schemas.openxmlformats.org/officeDocument/2006/relationships" id="276" r:id="R68c59b2361e2416c"/>
    <p:sldId xmlns:r="http://schemas.openxmlformats.org/officeDocument/2006/relationships" id="277" r:id="R8c8f554ee77247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ed50a64cc49ad" /><Relationship Type="http://schemas.openxmlformats.org/officeDocument/2006/relationships/slideMaster" Target="/ppt/slideMasters/slideMaster1.xml" Id="R03c63c6a08f54789" /><Relationship Type="http://schemas.openxmlformats.org/officeDocument/2006/relationships/notesMaster" Target="/ppt/notesMasters/notesMaster1.xml" Id="R3729978e7afe452e" /><Relationship Type="http://schemas.openxmlformats.org/officeDocument/2006/relationships/presProps" Target="/ppt/presProps.xml" Id="Re345a9e5d2b64f54" /><Relationship Type="http://schemas.openxmlformats.org/officeDocument/2006/relationships/tableStyles" Target="/ppt/tableStyles.xml" Id="R2848c6a05e9e4ce4" /><Relationship Type="http://schemas.openxmlformats.org/officeDocument/2006/relationships/slide" Target="/ppt/slides/slide1.xml" Id="R0f601760eeb74aaf" /><Relationship Type="http://schemas.openxmlformats.org/officeDocument/2006/relationships/slide" Target="/ppt/slides/slide2.xml" Id="R36d8bc9d9c2242ea" /><Relationship Type="http://schemas.openxmlformats.org/officeDocument/2006/relationships/slide" Target="/ppt/slides/slide3.xml" Id="R36ed4e5a10f54a86" /><Relationship Type="http://schemas.openxmlformats.org/officeDocument/2006/relationships/slide" Target="/ppt/slides/slide4.xml" Id="Rd524d81dc9374517" /><Relationship Type="http://schemas.openxmlformats.org/officeDocument/2006/relationships/slide" Target="/ppt/slides/slide5.xml" Id="Rb863f6edb60f4963" /><Relationship Type="http://schemas.openxmlformats.org/officeDocument/2006/relationships/slide" Target="/ppt/slides/slide6.xml" Id="R09ca37fff7cb4d42" /><Relationship Type="http://schemas.openxmlformats.org/officeDocument/2006/relationships/slide" Target="/ppt/slides/slide7.xml" Id="R5918be2c499c4cd8" /><Relationship Type="http://schemas.openxmlformats.org/officeDocument/2006/relationships/slide" Target="/ppt/slides/slide8.xml" Id="R6f6d1bcebcef4633" /><Relationship Type="http://schemas.openxmlformats.org/officeDocument/2006/relationships/slide" Target="/ppt/slides/slide9.xml" Id="R1c3eac2ff16b43b8" /><Relationship Type="http://schemas.openxmlformats.org/officeDocument/2006/relationships/slide" Target="/ppt/slides/slide10.xml" Id="R36dbe581cf0f4fdf" /><Relationship Type="http://schemas.openxmlformats.org/officeDocument/2006/relationships/slide" Target="/ppt/slides/slide11.xml" Id="Rbf49ee77017342ac" /><Relationship Type="http://schemas.openxmlformats.org/officeDocument/2006/relationships/slide" Target="/ppt/slides/slide12.xml" Id="R2de7842cecba4a33" /><Relationship Type="http://schemas.openxmlformats.org/officeDocument/2006/relationships/slide" Target="/ppt/slides/slide13.xml" Id="R16b47a6e0eef40ad" /><Relationship Type="http://schemas.openxmlformats.org/officeDocument/2006/relationships/slide" Target="/ppt/slides/slide14.xml" Id="R8b0632efe0104f90" /><Relationship Type="http://schemas.openxmlformats.org/officeDocument/2006/relationships/slide" Target="/ppt/slides/slide15.xml" Id="Rfdf44a0ddced4cb9" /><Relationship Type="http://schemas.openxmlformats.org/officeDocument/2006/relationships/slide" Target="/ppt/slides/slide16.xml" Id="R3067e72b95f240d9" /><Relationship Type="http://schemas.openxmlformats.org/officeDocument/2006/relationships/slide" Target="/ppt/slides/slide17.xml" Id="R579f47dc7c414e5e" /><Relationship Type="http://schemas.openxmlformats.org/officeDocument/2006/relationships/slide" Target="/ppt/slides/slide18.xml" Id="Rd8d1b75db4564342" /><Relationship Type="http://schemas.openxmlformats.org/officeDocument/2006/relationships/slide" Target="/ppt/slides/slide19.xml" Id="R23ce61894ad5467d" /><Relationship Type="http://schemas.openxmlformats.org/officeDocument/2006/relationships/slide" Target="/ppt/slides/slide20.xml" Id="R1a02b22566974a29" /><Relationship Type="http://schemas.openxmlformats.org/officeDocument/2006/relationships/slide" Target="/ppt/slides/slide21.xml" Id="R68c59b2361e2416c" /><Relationship Type="http://schemas.openxmlformats.org/officeDocument/2006/relationships/slide" Target="/ppt/slides/slide22.xml" Id="R8c8f554ee77247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b0bafe884847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df14cbafdc4033" /><Relationship Type="http://schemas.openxmlformats.org/officeDocument/2006/relationships/notesMaster" Target="/ppt/notesMasters/notesMaster1.xml" Id="R762730d74161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b5256457ad47ad" /><Relationship Type="http://schemas.openxmlformats.org/officeDocument/2006/relationships/notesMaster" Target="/ppt/notesMasters/notesMaster1.xml" Id="R6f7cea246a79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3b36794ff4cfd" /><Relationship Type="http://schemas.openxmlformats.org/officeDocument/2006/relationships/notesMaster" Target="/ppt/notesMasters/notesMaster1.xml" Id="Rf55228dd9ddd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b3c0e78894f70" /><Relationship Type="http://schemas.openxmlformats.org/officeDocument/2006/relationships/notesMaster" Target="/ppt/notesMasters/notesMaster1.xml" Id="R93c39fcf6e9b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f8f44756474119" /><Relationship Type="http://schemas.openxmlformats.org/officeDocument/2006/relationships/notesMaster" Target="/ppt/notesMasters/notesMaster1.xml" Id="R6618be2f68504e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b3829904e4bb7" /><Relationship Type="http://schemas.openxmlformats.org/officeDocument/2006/relationships/notesMaster" Target="/ppt/notesMasters/notesMaster1.xml" Id="R6340487a557e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cb72552abc4e8c" /><Relationship Type="http://schemas.openxmlformats.org/officeDocument/2006/relationships/notesMaster" Target="/ppt/notesMasters/notesMaster1.xml" Id="R79f84d5dcbf3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01e503149d4ff8" /><Relationship Type="http://schemas.openxmlformats.org/officeDocument/2006/relationships/notesMaster" Target="/ppt/notesMasters/notesMaster1.xml" Id="Rc2350467550649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bfa71a81be4ddc" /><Relationship Type="http://schemas.openxmlformats.org/officeDocument/2006/relationships/notesMaster" Target="/ppt/notesMasters/notesMaster1.xml" Id="R43d8ef86d552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893aa12aaa4f60" /><Relationship Type="http://schemas.openxmlformats.org/officeDocument/2006/relationships/notesMaster" Target="/ppt/notesMasters/notesMaster1.xml" Id="R67cd3bfd9d8346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209d3f592842fe" /><Relationship Type="http://schemas.openxmlformats.org/officeDocument/2006/relationships/notesMaster" Target="/ppt/notesMasters/notesMaster1.xml" Id="Rda15f42aab464f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6804a0b570440e" /><Relationship Type="http://schemas.openxmlformats.org/officeDocument/2006/relationships/notesMaster" Target="/ppt/notesMasters/notesMaster1.xml" Id="R22ef92a37fad4a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06ca7c7d6f4ad4" /><Relationship Type="http://schemas.openxmlformats.org/officeDocument/2006/relationships/notesMaster" Target="/ppt/notesMasters/notesMaster1.xml" Id="R180a55efed5b4d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41994bfcdf4a28" /><Relationship Type="http://schemas.openxmlformats.org/officeDocument/2006/relationships/notesMaster" Target="/ppt/notesMasters/notesMaster1.xml" Id="R137bc369a7bb4f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615993de3449ed" /><Relationship Type="http://schemas.openxmlformats.org/officeDocument/2006/relationships/notesMaster" Target="/ppt/notesMasters/notesMaster1.xml" Id="Rf7817a481d4e49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2de37600c34b49" /><Relationship Type="http://schemas.openxmlformats.org/officeDocument/2006/relationships/notesMaster" Target="/ppt/notesMasters/notesMaster1.xml" Id="R0403c0c2455944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36182e665e4303" /><Relationship Type="http://schemas.openxmlformats.org/officeDocument/2006/relationships/notesMaster" Target="/ppt/notesMasters/notesMaster1.xml" Id="Ra8f522719e4c40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38adfca4e44e19" /><Relationship Type="http://schemas.openxmlformats.org/officeDocument/2006/relationships/notesMaster" Target="/ppt/notesMasters/notesMaster1.xml" Id="R00f625694e2045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e4509a48534511" /><Relationship Type="http://schemas.openxmlformats.org/officeDocument/2006/relationships/notesMaster" Target="/ppt/notesMasters/notesMaster1.xml" Id="R408f3b8bc88445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c4728c1e844120" /><Relationship Type="http://schemas.openxmlformats.org/officeDocument/2006/relationships/notesMaster" Target="/ppt/notesMasters/notesMaster1.xml" Id="Ref0f74813e1a4b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fdc940e02a44ca" /><Relationship Type="http://schemas.openxmlformats.org/officeDocument/2006/relationships/notesMaster" Target="/ppt/notesMasters/notesMaster1.xml" Id="R7ffb19ad337046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8251f5243946bb" /><Relationship Type="http://schemas.openxmlformats.org/officeDocument/2006/relationships/notesMaster" Target="/ppt/notesMasters/notesMaster1.xml" Id="Ra336911258ee45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Halaalvest as a practical operations system for cooperatives. Keep the opening focused on everyday cooperative work: members, savings, contributions, approvals, repayments,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pain points without sounding like blame. The goal is to show why a shared system matters: faster reporting, clearer balances, better follow-up, and stronger member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platform as the central workspace for daily cooperative operations. The key message is not technology for its own sake; it is operational clarity.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system is role-based. Admins do not need every staff member to see or change everything; access can follow actual responsibilities.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new cooperatives are guided through setup instead of left to guess. Mention profile, start date, charges, contribution rules, share settings, financing rules, staff roles, and member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cooperative can have its own access link. This makes the workspace feel more organized and reduces confusion when staff or members need to sign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a future branding and trust feature. Cooperatives that already have a website or official domain can eventually bring the member portal under their own trusted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existing cooperatives can migrate old records. Mention member lists, savings balances, contributions, repayments, charges, levies, financing history, and share or profit history where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about trust. Imported history should be staged first, reviewed by staff, corrected where needed, then applied into the live system. This protects accuracy and avoids silent mistakes.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member management as the foundation. Once member records are clean, contributions, financing, repayments, reports, and member statements become easier to manage.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finance officers can quickly see what has been paid and what is outstanding. This supports liquidity planning and member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interest-based language. Emphasize cooperative pool deployment, eligibility, available funds, approval history, disbursement tracking, and transparent repayment.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fees, charges, and levies should be explicit and policy-backed. The system should make it clear why a member was charged and how repayments were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should be exception-led. It should help admins see deployable funds, collection coverage, overdue repayments, pending approvals, KYC reviews, failed imports, and setup warnings.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reporting to accountability. The cooperative should be able to explain member balances, repayments, approvals, charges, and historical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flow. It keeps the presentation focused and makes the product easier to understand because the audience can follow one story from setup to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clearly that beta is free until official release. Also clarify that beta is a market-entry period, not a permanent free live-finance 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predictable subscription pricing. The platform should not take a percentage of member savings, financing, repayments, dividends, or cooperative profit.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pricing flexible. Mention that setup and historical data migration may be a one-time service depending on data size and complexity.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reassures the audience that the product will evolve with their operations. Use this to invite honest feedback during the beta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features in the pipeline. Avoid promising that all of them are available today. Call out WhatsApp notifications, AI assistance, mobile app, automated reminders, member self-service, integrations, and personalized domains.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clear path forward: pilot setup, sample data entry, historical data review, staff demo, feedback collection, beta usage, and final subscription discussion after official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812e6bf3043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81a3e476a44cde" /><Relationship Type="http://schemas.openxmlformats.org/officeDocument/2006/relationships/slideLayout" Target="/ppt/slideLayouts/slideLayout1.xml" Id="R31f3caa4d09d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3caa4d09d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243eac44046c2" /><Relationship Type="http://schemas.openxmlformats.org/officeDocument/2006/relationships/notesSlide" Target="/ppt/notesSlides/notesSlide1.xml" Id="Rcf8b16ecfdd4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da8f518c740db" /><Relationship Type="http://schemas.openxmlformats.org/officeDocument/2006/relationships/notesSlide" Target="/ppt/notesSlides/notesSlide2.xml" Id="R2462b91d9e76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3fc4d461f4f3f" /><Relationship Type="http://schemas.openxmlformats.org/officeDocument/2006/relationships/notesSlide" Target="/ppt/notesSlides/notesSlide3.xml" Id="R352a6f9300f6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aaa727484493" /><Relationship Type="http://schemas.openxmlformats.org/officeDocument/2006/relationships/notesSlide" Target="/ppt/notesSlides/notesSlide4.xml" Id="Rcdb4f84ec36b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d848fa8e642c5" /><Relationship Type="http://schemas.openxmlformats.org/officeDocument/2006/relationships/notesSlide" Target="/ppt/notesSlides/notesSlide5.xml" Id="R5df9853e75c247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9f7fdb18b4258" /><Relationship Type="http://schemas.openxmlformats.org/officeDocument/2006/relationships/notesSlide" Target="/ppt/notesSlides/notesSlide6.xml" Id="R32c5a83194414f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6850b04f54a34" /><Relationship Type="http://schemas.openxmlformats.org/officeDocument/2006/relationships/notesSlide" Target="/ppt/notesSlides/notesSlide7.xml" Id="R3998be8686d34a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fb77a54a747b2" /><Relationship Type="http://schemas.openxmlformats.org/officeDocument/2006/relationships/notesSlide" Target="/ppt/notesSlides/notesSlide8.xml" Id="R4c5bfa324f87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83de90ecb42e4" /><Relationship Type="http://schemas.openxmlformats.org/officeDocument/2006/relationships/notesSlide" Target="/ppt/notesSlides/notesSlide9.xml" Id="R9cceaefcbb2b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a7fc64c214b10" /><Relationship Type="http://schemas.openxmlformats.org/officeDocument/2006/relationships/notesSlide" Target="/ppt/notesSlides/notesSlide10.xml" Id="Re340711671b746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c9ef3d4494e3b" /><Relationship Type="http://schemas.openxmlformats.org/officeDocument/2006/relationships/notesSlide" Target="/ppt/notesSlides/notesSlide11.xml" Id="R926ba15f1ee847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bd76b18714e56" /><Relationship Type="http://schemas.openxmlformats.org/officeDocument/2006/relationships/notesSlide" Target="/ppt/notesSlides/notesSlide12.xml" Id="R48b8f030589849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8643a335c4161" /><Relationship Type="http://schemas.openxmlformats.org/officeDocument/2006/relationships/notesSlide" Target="/ppt/notesSlides/notesSlide13.xml" Id="R8e4c522da2154b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a1cea36dd4cc4" /><Relationship Type="http://schemas.openxmlformats.org/officeDocument/2006/relationships/notesSlide" Target="/ppt/notesSlides/notesSlide14.xml" Id="R943bb163572a41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4f1bc7c8c4284" /><Relationship Type="http://schemas.openxmlformats.org/officeDocument/2006/relationships/notesSlide" Target="/ppt/notesSlides/notesSlide15.xml" Id="Rab5c8f01c90944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c95e2de64c40" /><Relationship Type="http://schemas.openxmlformats.org/officeDocument/2006/relationships/notesSlide" Target="/ppt/notesSlides/notesSlide16.xml" Id="R8dc4b3317d9f49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d46ca0c324cf1" /><Relationship Type="http://schemas.openxmlformats.org/officeDocument/2006/relationships/notesSlide" Target="/ppt/notesSlides/notesSlide17.xml" Id="R9e301cad3afd4b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e87f7fbbb4fb0" /><Relationship Type="http://schemas.openxmlformats.org/officeDocument/2006/relationships/notesSlide" Target="/ppt/notesSlides/notesSlide18.xml" Id="R0b19c637f23140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8a3debdc143fe" /><Relationship Type="http://schemas.openxmlformats.org/officeDocument/2006/relationships/notesSlide" Target="/ppt/notesSlides/notesSlide19.xml" Id="R3e17aa3f017c4b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7aeaa9aa47bd" /><Relationship Type="http://schemas.openxmlformats.org/officeDocument/2006/relationships/notesSlide" Target="/ppt/notesSlides/notesSlide20.xml" Id="R5465d597eb3b40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02fd4d9404de2" /><Relationship Type="http://schemas.openxmlformats.org/officeDocument/2006/relationships/notesSlide" Target="/ppt/notesSlides/notesSlide21.xml" Id="Rd70425ca936c40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4d0384751454d" /><Relationship Type="http://schemas.openxmlformats.org/officeDocument/2006/relationships/notesSlide" Target="/ppt/notesSlides/notesSlide22.xml" Id="R1270ab0b6614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C6FB3-E70B-4424-B2D2-1FD65C05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F1823-BCBB-4201-85B2-1FF24D6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00100"/>
            <a:ext cx="2971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575B9-D251-487D-B775-DBA1348B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335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F04E-279D-4E3C-9A05-64EF54D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53AC4-6B3C-4A85-9531-5EA1CC4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COOPERATIVE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419AE-AC59-4A2B-8EBD-05FCD8F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Halaalvest Cooperative Operations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4E6D2-6A38-4EA9-B383-2AE790A0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A simple digital platform for members, contributions, financing, repayments, reports, and approvals.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74FA0-D8FA-4858-861F-67FE1D1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CD116-DA38-4B0A-9CD0-9204C5B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1861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81FA3-F97B-461B-9678-A245D73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Current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1D00F-BBDE-4D52-A743-12A906F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Cooperative teams often carry critical records across too many places.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0A769-E281-47A5-A688-424403C7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38200"/>
            <a:ext cx="3238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EE26-82CF-4EF9-99DC-8BE177A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Manual work creates avoidable blind spots.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2947C-55D0-42DA-BBF1-4835A14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6F77B-F26F-4126-8201-6E5033D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3D01F-8253-4265-B46C-2DDF4D0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Spreadsheets, paper files, and manual reconciliation slow down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C109A-988A-49DE-8E31-B5F4E113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08C6F-6DF7-4595-B8C5-8F17CF5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Member balances and repayment positions can be hard to explain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856F6-C239-41DA-A90F-90852C4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36D72-02DD-4A21-BDAF-8C364A0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Approvals, follow-ups, and audit history become difficult to track.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767C0-AE12-4B47-9119-2957FA7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F9218-4EDA-42C9-835C-7076F32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4468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F364D-5B93-491B-AEDA-8F7BE845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What The Platform Solves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4AD7A-83AF-4CCB-B197-B0381F56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One operational source of truth for the cooperative.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C4CDE-EDA6-4339-A2D8-E9D7526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7AC0-F734-4CBA-A3DE-8CEFBF8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Members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4357E-9EF6-488F-A18B-E07704A4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Profiles, categories, status, and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98D48-9015-41D2-81BD-F17A1AF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E4C06-801B-4CCD-A063-51C81BA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Money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9E1F4-6B0F-4638-8C2D-49EB698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Contributions, charges, financing, and repayments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226AB-94AF-4658-9FE5-6E6F48E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CFC72-9C59-4326-A9E6-94FB050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C0BF6-95FB-4F1D-867D-CF98718A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Approvals, reports, roles, and audit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CA47E-9CF4-47D7-8134-C6BA462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473E7-32D7-4F3B-921A-6475D1EC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2797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EE5BE-9EE0-431A-A42B-D958DE06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Who The Platform Serves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9CAE2-5D8B-45F1-B56E-023BBC5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Each role gets access based on responsibility.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4D311-5C32-4FE8-83A3-19F9DDD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45D3-8E3C-4127-9A79-A523179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2FE2C-13AD-490B-8DA8-6FA66AF6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Admins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13D89-CEBA-490E-A301-FF6862E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Setup, policy, roles, and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C5186-2F73-4435-B2A6-E2D78FB7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9074C-714B-4995-992A-CA36BC2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A5B54-34E6-4E8F-9716-35CA330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Finance officers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95793-6C60-442D-B198-F81C95C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Contributions, charges, financing,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95CFE-82C0-4932-A390-385643F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3EBE5-61DD-4BC4-A86F-753EF10E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163F0-C83D-491D-B6B1-3EE90C8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Operations staff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37BEF-CE2F-42F1-A719-7ABDE0C2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Onboarding, KYC, documents, follow-ups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28E95-918D-4BF5-B016-A67FF4FA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F42C4-8CEE-4272-B616-A7968F8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2A771-BAA1-4976-8871-913826F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7897B-F4A1-4261-B8E5-AAD6208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Account history and self-service when enabled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60A8D-A8AF-47B0-B16F-B95384D7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59313-51AC-4EEE-B30B-F0E19D83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0346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F0027-7E35-43DE-8794-E02A482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Guided Getting Started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EB536-8A26-4F70-8CAA-2FBEC59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setup path turns a new workspace into a usable cooperative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9EDDA-8DDB-448D-920A-67EF19D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96E4E-BBDB-4E3C-AD92-39CE49E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39D65-36A8-4AB0-8C13-13C3153A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479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Profile and start 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6A2A3-BFC2-4DAB-B363-CF31C3D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0AD1A-63B0-443C-9FD5-EB504FA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75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11BC3-E87A-4F3D-8AFA-42C399A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575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Charges and contribution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07E5F-83DA-4A0D-89EC-D8265D9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672D3-182A-4E4A-AA55-F47985E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671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3A31A-78E1-4EBA-B955-00161B1A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671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Share and financing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2EF6E-64A4-41F1-9C0A-9AB4FFE5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EDB8-DDC6-4B94-8228-55EE3FB9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2BE90-233A-4DAB-9A34-CA2D840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Staff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D766E-B0DE-4A68-90F7-0E97EC3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267CE-F34E-42B9-B516-C5B17685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BA030-BC84-4940-AEAF-3924FF7E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863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Members and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76E22-5462-422B-9135-AAE10EE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C3887-D6FA-426B-8267-3502481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1025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CBB4A-80BB-438D-8909-0E225080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Dedicated Cooperative Subdomain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33D70-8A61-42D9-9B28-D1C3D50A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Every cooperative can have a direct workspace link.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05E06-C464-4A34-94D8-75C1F8E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6D84B-E439-4873-9688-32F6E7B3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90E9B-607F-46E8-A0E2-FD9D19AD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 dedicated subdomain makes the platform easier to access and easier to share with staff and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52095-564D-4806-91B2-EC80330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293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A1BDA-5E5D-4679-8E4B-FD40B226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yourcoop.halaalvest.com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605B-C036-49C4-89C4-DD9E71A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93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7467-8B1A-4FEA-A08F-14EDA6A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staff.yourcoop.halaalvest.com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1527D-5D7F-4E57-BBFF-7B12ED0E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A dedicated subdomain makes the platform easier to access and easier to share with staff and members.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80711-BF33-40B1-BD1C-A257706D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4C73C-7C37-433C-9BAC-9B8B7213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4097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DDF1A-09A7-4A86-A31D-226747B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Future Personalized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565DC-A1D3-4088-B55E-F8272E78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 branded domain can make the member experience feel more trusted.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070D-68D2-4236-B629-67A2CEA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E1578-CA4F-4A18-B782-A24BDCC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46438-D748-4D32-A042-C1443AB5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Established cooperatives can later connect their own domain for a more familiar member portal.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5AC9E-01C5-4278-80EB-428556BB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293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CFF59-0FBB-4027-AA15-D665F816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members.yourcoop.com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81EC0-8AAA-4ACE-929C-E0847818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93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7BBFC-1B23-43EF-8FB1-A17540E9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portal.yourcoop.org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218AA-6D5C-4D0F-AAD0-A2F0D3C4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Established cooperatives can later connect their own domain for a more familiar member portal.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B4D51-CF1C-49C6-B2BA-BFBA66E6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E09A7-35F7-4382-9411-2D748EF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2559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9642A-979E-4BDB-A9F2-3E50FFC0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Historical Data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5D773-53C8-43B2-B90C-8417B52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Existing cooperatives do not need to start from zero.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AA29-AF36-4175-B526-E5FF2BF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408B-01FD-451E-A136-478DA18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0D1D4-3461-419F-B2C9-A99350F9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Old records can be brought into the platform so the cooperative continues from its real current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1AAF4-2072-4E2E-BE65-E5EEB93E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659A5-2768-4872-B717-28F0C41B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Member lists and opening balances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7ACF1-50F9-4564-BE3A-396D1DF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374F4-0EB0-4A01-81B9-D6A107D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Past contributions, charges, and levies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9021B-F3FA-43AE-B34B-0EFACACA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A860A-7777-48A3-9263-361CD4D7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Existing financing and repayment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78E96-30C9-4A69-82A3-8A331EEF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A7A5F-CF72-4241-AFD9-15F2366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418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F5AD5-71BC-4C91-B37B-44F500E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Review Before Applying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E03CA-5D4B-4006-91C3-B0BD955F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Historical records are checked before they become live finance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FF200-8F87-49BD-AAEE-041C6C8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F1EA4-7EC1-4D56-876F-BCB298B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98B1D-A515-4CDA-8C2D-D8B96DE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479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Import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77625-E08E-41AB-A713-A1986AB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DF646-2654-4B9E-9D8C-7CE7681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75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0B448-34BF-4032-8C26-A4C12240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575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65B22-E708-49BA-8301-516BAFE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A9696-74CA-462F-979A-70355C6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671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18876-880B-4D0F-831A-217B598C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671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41D44-DBC2-4FB3-A64A-A895CCB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4E1D5-8500-4BD9-AE26-9E24A3F3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E1747-D013-412D-8476-7EE1347A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3992E-2263-4F07-8812-B29723A8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EC08E-3828-419C-BA6E-EA6CC72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5F9B1-CFFC-4EAF-B770-D6D790F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863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93585-24A8-4728-B8C3-0F39946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1E77B-BA09-467F-8295-07C6040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3391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7F8B8-4938-433F-9BB8-3697879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Member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A0324-5C01-4613-8591-B95876A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 clean member record is the foundation of the cooperative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02EB0-F462-4B2C-9C06-EB6AD0B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F087F-7E41-40BB-9515-9CA2DA3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B8B15-7491-48E2-933C-78D826F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Staff can register members, manage categories, track status, review KYC or documents, and view account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7A8EA-DD70-4D29-8521-E799ACC5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C881B-3243-47FC-958E-B56E446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Member profiles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1A24A-0E03-4634-BF21-086A7FD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8E9E7-970E-41F4-AE66-39B013D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KYC and document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904DF-AD4C-4E9F-A606-354D9662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A38E4-E1C9-4961-AA2F-55C7313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Account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E3484-C4E1-4B23-B2F9-E8849BA0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26E18-59CB-4290-B219-63AE91D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7089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67CCF-9805-43B6-BC0F-EA46C25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Contributions &amp; Savings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FAB5A-518D-4F71-97A2-1B13DB6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Finance teams can see what is expected, paid, and outstanding.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3F11-CCAA-4B40-BD8D-22D4DC5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54CA4-DDD8-4C15-BF53-601A71A6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C087-38D9-4BF4-B2C2-30A194D5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 platform tracks expected contributions, received payments, unpaid members, savings balances, and payment channels.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927E5-B8EA-4E95-806E-6E0EF745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E10BF-9415-43E5-9645-6EB8489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Expected vs received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2F1B2-3B4E-4B6A-86DC-84BA791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FCFCB-B839-46FD-9B27-D19FE4DF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Paid and unpaid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FFA21-22FC-46B0-9FB7-CA6BC08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4BEEF-8119-4C0B-8748-00B851D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Direct and indirect payments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111D-5539-4493-8BBA-4AE4646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2CEFB-17F2-4FDA-9B35-B00D097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1509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3A187-27EC-4EE9-B742-88408F4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Interest-Free Financing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411BD-BE3D-4AF2-B031-ABEBB0F5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Financing is managed from request to repayment with clear policy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2BF27-2FA0-427F-A468-4DF400C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7EA7-4D9A-4384-A0AF-4327314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BC10-566F-40CA-A82B-8A57B80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Members request financing, and admins approve based on policy, savings, eligibility, and available cooperative funds.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C8765-67B6-4F63-BE48-06E5ADF0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FFFDB-7F5F-42F1-BEF0-42688FC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Request and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2F75D-DB7F-4A53-A2AC-BB87BDDB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0B64F-AA7E-48D5-B7DB-8931353C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Eligibility and fund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B59B3-EC32-4961-986B-BC85CED1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2BA4A-118F-446F-A53A-8E70C2F6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Disbursement and repayment 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088AC-47C0-4E20-A965-E7D925E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660EB-35DA-4AD5-9C04-4D26849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66758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2994F-C65A-4367-879E-416D2E3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Charges, Levies &amp; Repayments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8714-6175-4806-B4AF-4C95C4C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Every charge and repayment stays clear and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53187-1AAF-445E-9331-25E34D0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48286-0770-4031-8F1B-FAB3E2F3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3BF29-64DC-468F-A160-66B694B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Cooperatives can manage levies, service charges, repayment schedules, waivers, adjustments, and overdue follow-ups.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6A3FA-922D-4CA5-B847-B2BBC0D8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B1F29-B3F7-4CB1-9366-D05ED79F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Configured charges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5C8FB-4529-4C7D-87E4-41530470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7FEDA-328A-4839-972C-88BFAB7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Repayment schedules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F9F7-E84E-4CAA-8766-AE4D6DC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24A42-64A8-40FB-A996-8F96FBE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Waivers and adjustments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E60BE-56F7-46C8-8946-6C83968C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8D36E-BB2B-472F-AD8F-B947C581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4747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BE7FB-A98B-4EA7-A2D6-55D99F7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Admin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1B2A0-9361-43C7-9953-E0C78B0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dashboard answers the daily question: what needs attention now?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5B1EB-A284-48E7-B305-798D0668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4B227-015E-4C12-9153-98BB205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Funds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6B8A9-C516-4FC0-950A-042319E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2BF00-7497-4CB0-B92B-3CA43D0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Deployable funds after holds and commitments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C2F14-37FE-4D81-B43B-BE50FD17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51264-C842-44C2-8618-7FAA524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Collections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6D5FD-D06B-482A-B852-1985BFBA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7BB91-7DA9-46CC-B5AD-FC9537EB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Expected, received, and unpaid 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D9D17-5ABD-48D1-A282-43ABFCF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DCBFD-1ECA-41D1-BC36-409FBC57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D9F2E-55F3-41D3-A362-1626F0D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7E891-8159-4622-B45E-A39ACC55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Overdue repayments and follow-ups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18C2-C26A-4912-A678-ED0A984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1D33E-67BE-4728-8219-293954E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10661-BA15-4775-86F3-86CA9657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F237F-6368-418A-AD55-BAB6A6F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Approvals, KYC reviews, imports, setup warnings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1ED2C-D225-4B54-BB4F-5718A803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A02D-4BAD-4E7E-BF86-1A8E7B1B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50874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85C26-FC49-4053-B843-204EACD5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Reports, Transparency &amp; 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34F4C-EEEF-49BB-AE0B-E028FE5C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Clear records build member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C13B7-A11C-454B-A10F-89A2CA3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47CF7-7DDC-4449-98D4-DAEDBA3D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8F5C6-BACE-4D2A-B7C3-B727E5AC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 platform supports member statements, contribution summaries, repayment reports, finance summaries, approval history, and audit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4652A-A5A7-414A-A832-C7631B2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CE2C-9986-41A9-853C-5F864D7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Member statements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0541D-7579-4E4F-948B-3F5E405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7C3C8-A989-49D5-A837-DE90740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Finance and repayment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CBE17-AE9F-4E34-B8C6-196BE03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1F135-AB1F-419E-8DF1-74084AE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Approval and audit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C6809-1F5F-41DE-AEB0-212C3A6A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0E895-BCF0-477C-8833-719C050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1798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614CF2-A130-4886-A8E5-8DAF625A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Demo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0232A-146B-43C7-A9F2-E9DED21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live demo follows one complete cooperative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82B61-138D-4552-8B64-FC7EC1E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00568-A2DE-4F69-BF02-38EC0E5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430A0-CBB4-4DC2-AE39-08B1FA4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241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Setup cooperative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2C4EC-9B82-4E2E-8FA3-3FC0709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CB8C2-903D-480C-91FA-B269F458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33A25-3ACB-4EBD-A691-EFA5477B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Add or import members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7E290-5C89-4066-A79F-2D63B083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192DC-B63C-4A72-9A62-BC48CD8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0414D-D911-4082-A8A0-C185922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147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Record contributions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24278-6863-49DB-9960-9FFBCF7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02B4C-8A4E-4137-9189-C99B0B1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728FD-2F4E-4672-AA53-83DCEE05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Request financing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0A3F2-9C77-41B3-AD37-B661A5C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B1048-C0B8-46FA-B687-4B54C98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2E704-A28C-47B4-A140-FAAD188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Approve financing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1F9BD-E8C7-4015-AC06-E62BB44A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1B69E-008F-476A-B341-E1E1FA39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B59B5-195A-482E-BD01-FAAC5AA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Post repayment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134F5-51C2-4093-ADAD-36255371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4F8EE-B67A-4942-8069-58BBE0A2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959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C8312-2B38-4EC8-BC25-3B9D248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959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View dashboard and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234F2-46CF-4E43-9156-5F57DBE8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D3625-AA23-416E-9E52-B65E1ED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07850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70D53-D1BC-4B73-A8D7-E7C9D99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Free Beta Until Official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7A619-9481-459B-A1A4-A9466E1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Early cooperatives can use the platform free during beta.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0AF5B-60FC-414C-A826-829396D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42CCE-D96F-4ED2-A111-EC20DBBD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13EC4-966E-4182-AEBB-ACD6D4D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Beta users help shape the final product through real workflow feedback before paid subscription begins.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5112B-E24B-4EC1-8F61-25338650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31EA-3EBD-40D2-BD9C-C43ACB3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Free beta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80196-AE28-4DD0-9727-040F51B1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D867E-4269-4250-80D4-84C34D90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Guided setup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69774-475D-4C99-BAEC-7C5B8C2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80EF4-FE00-4F21-9DEE-5A0BB29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Feedback-led improvements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5FD39-A4F1-4CD0-886F-AC3A3A6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FEA0F-60A9-47B9-A678-A2D865A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53364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3F494-FAAA-4CBC-97EB-1406504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Platform Pricing &amp; Subscription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55522-CD67-41CB-8E1C-3086C663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Pricing is designed to be predictable for cooperative budgets.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BB6C3-77DB-4B79-87A1-6A664E1B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3434-C85B-4E97-8BB4-EBC4EFF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7A437-4DD2-4A8C-933B-408D3193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After release, pricing will depend on cooperative size, feature needs, support level, and optional add-ons.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5F4DF-027F-4C9F-AF9F-499A3CBF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C61A8-9319-49E6-B871-D2893D0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No percentage of member funds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14108-3044-451B-82ED-87872F9D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1EF8A-879C-480F-B8DD-C81635DC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Transparent subscription and setup fees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2C18-21A0-432F-AE4B-9AFE503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631C8-A5A0-44C8-ADBB-6C971FE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Provider costs kept separate where applicable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27482-1028-40A7-A987-1C109A4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38256-8A8B-4B1C-B7EE-0CC0AC1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13558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C5F4A-BDAB-410C-B373-C5574C1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Proposed Pricing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B4D6F-CCED-46F7-BFD8-B462E67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Plans can be finalized after member size, migration needs, and support expectations are known.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9BAC2-093C-4B4C-8733-C8878C3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5BE68-DFF5-412D-8C4B-374DC754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7D2C6-6F15-4481-AD2B-54BBB9F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19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4FBE9-9F28-4CE7-9B93-8235FAE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336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26A19-80DA-4355-8151-F7B48737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19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7E938-BC12-42DD-8508-2D159AB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A53DB-82CB-4B02-BD42-8A64A91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38CD-303A-4A08-B386-5632E5E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Included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E6DAD-437B-4DFA-8C1A-87D9D7DB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B1741-FA13-4F6A-A468-786838A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Free Beta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F98C1-0EA3-44F4-BF0F-FE906712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34509-EC45-4317-BF4F-95645108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766E"/>
                </a:solidFill>
              </a:defRPr>
            </a:pPr>
            <a:r>
              <a:rPr sz="1125" b="0">
                <a:solidFill>
                  <a:srgbClr val="0F766E"/>
                </a:solidFill>
              </a:rPr>
              <a:t>NGN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A5120-D7E1-4CE1-810F-BB573768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BA6EC-BB5A-495A-84BF-1ADD43D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90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Pilot cooperatives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ADF25-1B10-482D-9B5E-F963FD5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9E5B7-4C13-4909-AEB2-DA51EF90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Core workflows while beta is 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7A035-64B4-484F-BC43-033F13D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40575-8DF3-47FB-AD70-C802D136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Starter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088EE-D42E-4018-BB7B-E912D58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9A1AF-BEDB-42FE-BE78-0DEB7B2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NGN 50k-75k/mo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B9DA9-4955-409F-9BA9-E3AC88E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9FE18-FE7B-44FC-9B21-D833298A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432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Small cooperatives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E4F31-07B0-4127-A215-7B59BCB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4CC5C-D84F-404F-8963-F6E3109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Members, contributions, basic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D9B9E-E11F-44BD-8D44-A9D977D1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ECE36-992C-4EFF-ABB5-F4BACBB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Standard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858B78-82CA-478A-884C-01E674E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CE70D-1232-47DA-AA80-696F1E20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NGN 120k-180k/mo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536D9-409D-45C4-8C78-AC99926C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229FBA-EF7C-487D-A50A-B21365B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957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Established societies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7669C-5760-46A2-A009-17E65A2A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DF845-4A14-46C6-91BE-BC111746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Member login, reports, custom domain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5D1B17-AA94-4C5D-B11A-2E3C847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971C3-932C-4F37-A597-CB85467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Growth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F17D24-81CB-4E1C-BEAA-F2ED10E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33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A8ED53-4D3B-47D7-9D14-0152B671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NGN 250k-350k/mo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1D4F06-D7DF-48B7-B5FA-B37CBC1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33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A2E084-6115-4A59-B839-DD76FD9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481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Larger groups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12CC95-E8DF-4CEB-8E5D-352D6EF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1432B6-5053-42AD-B603-88FEE16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Advanced roles, exports, notifications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A464F1-B63E-44B4-BF2C-18B032FE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DA846B-8CDF-4419-AE97-891A37F6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Enterprise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FCD4B1-279D-4D49-9C5D-6D61D14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86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0E429A-1ABA-456D-984C-5C01D5C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006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Custom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59344-A497-4388-8E93-68E17FE0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E8BFA7-1594-4BE6-9C43-F417555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00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Multi-branch needs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4F6D97-375A-44A8-B993-CFAB577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05C41F-0231-49BE-8DF6-12BAB517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006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Migration, integrations, SLA 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6C2932-EEA1-42F2-8F6E-32C4E653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Setup and historical migration may be separate when data is complex.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DFCE43-410B-4AAA-A637-F22F1FB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460A64-A62F-4539-8BCB-CEB102E4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237977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F1A34-010D-4696-87F4-49FEDAB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Continuous Improvement With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F1F08-2E8A-4B3C-85CA-BA9DCEA8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platform will keep improving around real cooperative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CBC97-0D97-47D9-A524-C0EA16F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5850"/>
            <a:ext cx="350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6F337-DAA9-4FF7-B4DD-177D4D4B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Key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86795-8527-4A7E-803F-2D4D5C8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Updates will be shaped by staff feedback, member needs, reporting gaps, and workflows observed during beta and live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A4F4-2B12-468C-9E83-2A060D3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3E7CE-1DDB-4B3E-968D-EC5114E3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Workflow refinements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147A0-A295-48E5-8245-1E982C36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4682F-2E34-438B-A33C-E4E57160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Report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19E14-192A-432F-A67E-1DC67AE3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B439-BEF4-47B6-B605-6DA92721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Member experience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6026-DAE1-4CF9-9631-6CFE167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0A42-7890-437D-B1E3-8DD29D31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951742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C8D74-F3D5-457C-9378-A5CCD33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Upcoming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2192-D3EA-4335-823D-B7D40088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roadmap focuses on communication, intelligence, mobility, and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7054E-9ED7-4D52-AE82-F8EE234B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627F5-F116-4A4C-ACBB-7780DF0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6CB6B-A2FD-4955-AECA-97A8F84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WhatsApp notifications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4FD5B-9A1E-46AF-BD45-9767F88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768DA-0688-4BDF-9C7F-F25A825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608A-F4E9-436A-A980-CA7C0448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AI-assisted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8D5DB-7103-4DD0-9222-CF7C481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4B2F0-9449-46C7-A2BB-15D7B16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5CFC0-4C29-4E14-AD95-3F5A129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Mobile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90077-675C-4D9A-9F9E-E9D62D51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026F1-8C7A-4AF0-A915-BF12C5D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A70B8-3290-4327-8E4E-804C123A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Automated reminders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3646D-CF4B-45D6-A628-C72FB5F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9067-8016-4BAF-A57B-4826178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7FC00-7652-4498-8613-5BD04D08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Member self-service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1E301-F88E-4298-9B2F-915FA7F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71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2294B-80C7-483D-A649-1444AED6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041B2-ABF5-4203-AAD2-BF08D7B9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Custom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78394-9AFE-4C8C-AD00-8E6C2FD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59E5F-EF2C-40D1-A5C3-002CFB3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98FED-16E5-473F-9A2B-FF892019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Deeper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EED3C-E38A-41FB-8EB9-92AB83D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4C946-0CF9-4883-9A6C-E0A33CC0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D4E60-83EB-4BB5-9559-00A41AB0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Personalized domains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B5DF21-8ED2-4699-B59F-E443580A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FBEE4-707A-48BB-B285-73CA012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330325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4C102-BDCE-44D8-94AB-F02268F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64D02-EE12-4B34-BF7D-58D3955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3628E-4267-4067-B83C-5C5AF34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Start with a pilot, validate the data, gather feedback, then agree the launch and subscription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8624E-8A40-4F37-95B1-96D7ED6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BFDF3-7993-48E4-8763-E0904E97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Pilot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CBE4-9689-4A90-A9CA-DC7C101C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30120-2D2F-41BF-AF68-26C7CE6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52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Sample data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82A9-82F8-47E9-80A8-8E3A64A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E366A-F84F-49FD-948B-70EBFEFA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52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Historical data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AE6E8-F8B3-4986-BB09-7098443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6B4E5-1E43-4559-8F84-6B50CB5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Staff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D8F98-C20D-4286-A18B-5C44D4A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DE83F-1B85-49D7-BD24-33CBDF95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Feedback collection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77DD2-47AD-4ADD-A271-00DAC99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89F1-2501-4B95-8C0C-49B00FB3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86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Beta usage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C9359-C68B-453D-AA38-91D269DB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9AB7B-7A33-4F5F-9752-FE1EA29C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86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Subscription discussion after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44224-036E-42CF-9087-DF6A86F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Halaalvest cooperative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62D50-3D43-4F9A-AA14-54EA1EB7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59687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2026-07-08T09:29:29.4110000Z</dcterms:created>
  <dcterms:modified xsi:type="dcterms:W3CDTF">2026-07-08T09:29:29.4110000Z</dcterms:modified>
</coreProperties>
</file>