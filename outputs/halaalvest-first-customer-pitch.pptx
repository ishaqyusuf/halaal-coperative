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1fd4505a74959" /><Relationship Type="http://schemas.openxmlformats.org/officeDocument/2006/relationships/extended-properties" Target="/docProps/app.xml" Id="Rae46339c6f0c4dd7" /><Relationship Type="http://schemas.openxmlformats.org/officeDocument/2006/relationships/officeDocument" Target="/ppt/presentation.xml" Id="R4a3cb43b629c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bd59da727477f"/>
  </p:sldMasterIdLst>
  <p:notesMasterIdLst>
    <p:notesMasterId xmlns:r="http://schemas.openxmlformats.org/officeDocument/2006/relationships" r:id="R91dab65a09f949e9"/>
  </p:notesMasterIdLst>
  <p:sldIdLst>
    <p:sldId xmlns:r="http://schemas.openxmlformats.org/officeDocument/2006/relationships" id="256" r:id="R99646367df464015"/>
    <p:sldId xmlns:r="http://schemas.openxmlformats.org/officeDocument/2006/relationships" id="257" r:id="Ref4306efaf7849f0"/>
    <p:sldId xmlns:r="http://schemas.openxmlformats.org/officeDocument/2006/relationships" id="258" r:id="Re720ee46cd944d65"/>
    <p:sldId xmlns:r="http://schemas.openxmlformats.org/officeDocument/2006/relationships" id="259" r:id="Rb034d550aa754885"/>
    <p:sldId xmlns:r="http://schemas.openxmlformats.org/officeDocument/2006/relationships" id="260" r:id="R56dcd6f4d19c4daa"/>
    <p:sldId xmlns:r="http://schemas.openxmlformats.org/officeDocument/2006/relationships" id="261" r:id="R6d0f52d1a84b48c7"/>
    <p:sldId xmlns:r="http://schemas.openxmlformats.org/officeDocument/2006/relationships" id="262" r:id="Rb42b8dd8d28846e2"/>
    <p:sldId xmlns:r="http://schemas.openxmlformats.org/officeDocument/2006/relationships" id="263" r:id="R164f2f3c7d234d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1f36fee8b4ebc" /><Relationship Type="http://schemas.openxmlformats.org/officeDocument/2006/relationships/slideMaster" Target="/ppt/slideMasters/slideMaster1.xml" Id="Redbbd59da727477f" /><Relationship Type="http://schemas.openxmlformats.org/officeDocument/2006/relationships/notesMaster" Target="/ppt/notesMasters/notesMaster1.xml" Id="R91dab65a09f949e9" /><Relationship Type="http://schemas.openxmlformats.org/officeDocument/2006/relationships/presProps" Target="/ppt/presProps.xml" Id="R0b78236358b54547" /><Relationship Type="http://schemas.openxmlformats.org/officeDocument/2006/relationships/tableStyles" Target="/ppt/tableStyles.xml" Id="R27bcb6019a3043c2" /><Relationship Type="http://schemas.openxmlformats.org/officeDocument/2006/relationships/slide" Target="/ppt/slides/slide1.xml" Id="R99646367df464015" /><Relationship Type="http://schemas.openxmlformats.org/officeDocument/2006/relationships/slide" Target="/ppt/slides/slide2.xml" Id="Ref4306efaf7849f0" /><Relationship Type="http://schemas.openxmlformats.org/officeDocument/2006/relationships/slide" Target="/ppt/slides/slide3.xml" Id="Re720ee46cd944d65" /><Relationship Type="http://schemas.openxmlformats.org/officeDocument/2006/relationships/slide" Target="/ppt/slides/slide4.xml" Id="Rb034d550aa754885" /><Relationship Type="http://schemas.openxmlformats.org/officeDocument/2006/relationships/slide" Target="/ppt/slides/slide5.xml" Id="R56dcd6f4d19c4daa" /><Relationship Type="http://schemas.openxmlformats.org/officeDocument/2006/relationships/slide" Target="/ppt/slides/slide6.xml" Id="R6d0f52d1a84b48c7" /><Relationship Type="http://schemas.openxmlformats.org/officeDocument/2006/relationships/slide" Target="/ppt/slides/slide7.xml" Id="Rb42b8dd8d28846e2" /><Relationship Type="http://schemas.openxmlformats.org/officeDocument/2006/relationships/slide" Target="/ppt/slides/slide8.xml" Id="R164f2f3c7d234d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e64bc9c5a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b0be218f294a8e" /><Relationship Type="http://schemas.openxmlformats.org/officeDocument/2006/relationships/notesMaster" Target="/ppt/notesMasters/notesMaster1.xml" Id="R5eb6859f18ba48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ce7ad74c54de9" /><Relationship Type="http://schemas.openxmlformats.org/officeDocument/2006/relationships/notesMaster" Target="/ppt/notesMasters/notesMaster1.xml" Id="R89a9df5ddb34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7f2217aff34802" /><Relationship Type="http://schemas.openxmlformats.org/officeDocument/2006/relationships/notesMaster" Target="/ppt/notesMasters/notesMaster1.xml" Id="Rb9e1f2963642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8008313e804906" /><Relationship Type="http://schemas.openxmlformats.org/officeDocument/2006/relationships/notesMaster" Target="/ppt/notesMasters/notesMaster1.xml" Id="Re656d6d9babe4b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e1b727fea4001" /><Relationship Type="http://schemas.openxmlformats.org/officeDocument/2006/relationships/notesMaster" Target="/ppt/notesMasters/notesMaster1.xml" Id="R7143b19d9af5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152361eaf04220" /><Relationship Type="http://schemas.openxmlformats.org/officeDocument/2006/relationships/notesMaster" Target="/ppt/notesMasters/notesMaster1.xml" Id="Rdcab5c284ae541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08c0e6ea1e45a5" /><Relationship Type="http://schemas.openxmlformats.org/officeDocument/2006/relationships/notesMaster" Target="/ppt/notesMasters/notesMaster1.xml" Id="Rca77e1d4b4f4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91de7d330a4593" /><Relationship Type="http://schemas.openxmlformats.org/officeDocument/2006/relationships/notesMaster" Target="/ppt/notesMasters/notesMaster1.xml" Id="Rb2d939b5007a4e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6d526771340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d06bd782f4e00" /><Relationship Type="http://schemas.openxmlformats.org/officeDocument/2006/relationships/slideLayout" Target="/ppt/slideLayouts/slideLayout1.xml" Id="R2e02dc6bfb96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2dc6bfb96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e511304e64659" /><Relationship Type="http://schemas.openxmlformats.org/officeDocument/2006/relationships/image" Target="/ppt/media/image.png" Id="Rf537904b8c574bfe" /><Relationship Type="http://schemas.openxmlformats.org/officeDocument/2006/relationships/image" Target="/ppt/media/image.svg" Id="Rd3d4fc2e66a544d4" /><Relationship Type="http://schemas.openxmlformats.org/officeDocument/2006/relationships/notesSlide" Target="/ppt/notesSlides/notesSlide1.xml" Id="Rfa52affa6a07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861942eb647e6" /><Relationship Type="http://schemas.openxmlformats.org/officeDocument/2006/relationships/notesSlide" Target="/ppt/notesSlides/notesSlide2.xml" Id="Ra8e3a54b236241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f58129add46a5" /><Relationship Type="http://schemas.openxmlformats.org/officeDocument/2006/relationships/notesSlide" Target="/ppt/notesSlides/notesSlide3.xml" Id="Ra733a55aea6c4a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9123b8d954a73" /><Relationship Type="http://schemas.openxmlformats.org/officeDocument/2006/relationships/notesSlide" Target="/ppt/notesSlides/notesSlide4.xml" Id="R275772cebecd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4f2bd1b0f4cb2" /><Relationship Type="http://schemas.openxmlformats.org/officeDocument/2006/relationships/notesSlide" Target="/ppt/notesSlides/notesSlide5.xml" Id="R89e03c2b820e47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e65e7de6043b4" /><Relationship Type="http://schemas.openxmlformats.org/officeDocument/2006/relationships/notesSlide" Target="/ppt/notesSlides/notesSlide6.xml" Id="R12ad8aeede1f41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990fb57844e4" /><Relationship Type="http://schemas.openxmlformats.org/officeDocument/2006/relationships/notesSlide" Target="/ppt/notesSlides/notesSlide7.xml" Id="R8de74412db7142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a8bc152174cf4" /><Relationship Type="http://schemas.openxmlformats.org/officeDocument/2006/relationships/notesSlide" Target="/ppt/notesSlides/notesSlide8.xml" Id="Rae09b517658f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7904b8c574bfe">
            <a:extLst>
              <a:ext uri="{96DAC541-7B7A-43D3-8B79-37D633B846F1}">
                <asvg:svgBlip xmlns:asvg="http://schemas.microsoft.com/office/drawing/2016/SVG/main" r:embed="Rd3d4fc2e66a544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361950"/>
            <a:ext cx="154305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524A8-A5B1-474D-8C78-608DF8F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7A3D"/>
                </a:solidFill>
              </a:defRPr>
            </a:pPr>
            <a:r>
              <a:rPr sz="1425" b="1" i="0">
                <a:solidFill>
                  <a:srgbClr val="1F7A3D"/>
                </a:solidFill>
              </a:rPr>
              <a:t>First customer pilot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E9AD5-B395-4CB3-9F64-D95DC3B6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B1F36"/>
                </a:solidFill>
              </a:defRPr>
            </a:pPr>
            <a:r>
              <a:rPr sz="5850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F4C19-BBCE-407F-BFDC-6873A34D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11111"/>
                </a:solidFill>
              </a:defRPr>
            </a:pPr>
            <a:r>
              <a:rPr sz="2400" b="0" i="0">
                <a:solidFill>
                  <a:srgbClr val="111111"/>
                </a:solidFill>
              </a:rPr>
              <a:t>A cleaner operating backbone for halal cooperatives.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53829-3896-4408-9C52-08695768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Customer meeting | July 3,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D8894-31D0-4068-A2C1-0D0D122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28700"/>
            <a:ext cx="53340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9FAC8-ACB7-48A7-AEED-1B48340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28700"/>
            <a:ext cx="533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1CF73-F875-43DE-B54D-A19D2CF0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6"/>
                </a:solidFill>
              </a:defRPr>
            </a:pPr>
            <a:r>
              <a:rPr sz="1425" b="1" i="0">
                <a:solidFill>
                  <a:srgbClr val="0B1F36"/>
                </a:solidFill>
              </a:rPr>
              <a:t>Cooperative HQ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29EB8-5117-4BA7-B024-7AB4F33B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19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45D"/>
                </a:solidFill>
              </a:defRPr>
            </a:pPr>
            <a:r>
              <a:rPr sz="1125" b="0" i="0">
                <a:solidFill>
                  <a:srgbClr val="58645D"/>
                </a:solidFill>
              </a:rPr>
              <a:t>Finance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87335-B94A-4E1A-B4D7-09DF935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0287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F7A3D"/>
          </a:solidFill>
          <a:ln xmlns:a="http://schemas.openxmlformats.org/drawingml/2006/main" w="9525">
            <a:solidFill>
              <a:srgbClr val="1F7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26C79-42AA-407F-BB44-8770445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477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Pilot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B1E89-39D5-4D2D-B2E8-5AAE022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1511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10FC6-F10D-41A5-BC5C-281869E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Deployable funds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4460B-8D4E-4D49-A179-B785239F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9825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Policy-aware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4B9B8-DE78-438B-95E3-61DA973C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85950"/>
            <a:ext cx="1511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94C92-2EE9-4E17-AFA0-4F0D4982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057400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Collection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B948D-6B18-4B06-B26C-39905D4E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409825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Current period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244EA-79E7-4DFC-8784-5FC4B332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1885950"/>
            <a:ext cx="1511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5ED68-6AA5-4E42-B42E-9D177FF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2057400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Action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97AD7-C04D-49F4-90D2-67754AD0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2409825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6A63A"/>
                </a:solidFill>
              </a:defRPr>
            </a:pPr>
            <a:r>
              <a:rPr sz="1350" b="1" i="0">
                <a:solidFill>
                  <a:srgbClr val="D6A63A"/>
                </a:solidFill>
              </a:rPr>
              <a:t>Needs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4999A-C5D6-464E-9D69-6B585329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6"/>
                </a:solidFill>
              </a:defRPr>
            </a:pPr>
            <a:r>
              <a:rPr sz="1500" b="1" i="0">
                <a:solidFill>
                  <a:srgbClr val="0B1F36"/>
                </a:solidFill>
              </a:rPr>
              <a:t>Approval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07C8E-4520-4C2D-BD2A-809779CF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2524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435EF-1DEC-4679-81AB-FC33814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45D"/>
                </a:solidFill>
              </a:defRPr>
            </a:pPr>
            <a:r>
              <a:rPr sz="1125" b="0" i="0">
                <a:solidFill>
                  <a:srgbClr val="58645D"/>
                </a:solidFill>
              </a:rPr>
              <a:t>Member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1575E-D2EF-46A5-87DC-EC908DCA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67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7A3D"/>
                </a:solidFill>
              </a:defRPr>
            </a:pPr>
            <a:r>
              <a:rPr sz="1050" b="1" i="0">
                <a:solidFill>
                  <a:srgbClr val="1F7A3D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574E6-1959-4EF7-9A86-81EF90DB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2524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1A435-AA5F-419E-8E17-5C114AF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243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45D"/>
                </a:solidFill>
              </a:defRPr>
            </a:pPr>
            <a:r>
              <a:rPr sz="1125" b="0" i="0">
                <a:solidFill>
                  <a:srgbClr val="58645D"/>
                </a:solidFill>
              </a:rPr>
              <a:t>Liquidity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6F88C-2CA9-4313-A9FE-3E9A278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243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7A3D"/>
                </a:solidFill>
              </a:defRPr>
            </a:pPr>
            <a:r>
              <a:rPr sz="1050" b="1" i="0">
                <a:solidFill>
                  <a:srgbClr val="1F7A3D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8035C-9D9D-4880-8B5E-17C733B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2524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48279-15B7-46C8-82F1-458866F6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815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45D"/>
                </a:solidFill>
              </a:defRPr>
            </a:pPr>
            <a:r>
              <a:rPr sz="1125" b="0" i="0">
                <a:solidFill>
                  <a:srgbClr val="58645D"/>
                </a:solidFill>
              </a:rPr>
              <a:t>Dual sign-off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66DE0-6B2E-4008-86F0-063B23AC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81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7A3D"/>
                </a:solidFill>
              </a:defRPr>
            </a:pPr>
            <a:r>
              <a:rPr sz="1050" b="1" i="0">
                <a:solidFill>
                  <a:srgbClr val="1F7A3D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5063B-FF19-4E0F-80A3-B1BE9F3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6"/>
                </a:solidFill>
              </a:defRPr>
            </a:pPr>
            <a:r>
              <a:rPr sz="1500" b="1" i="0">
                <a:solidFill>
                  <a:srgbClr val="0B1F36"/>
                </a:solidFill>
              </a:rPr>
              <a:t>Ledger movement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5FD41-E28C-4AC8-AB6A-F96E14A6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86325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3B36FF-AA52-4972-8959-D630B791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A86CD7-72C5-452A-968C-ADCBA1D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38625"/>
            <a:ext cx="114300" cy="647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D6FA44-E083-4820-9AE7-5CDB2FE8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114300" cy="838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51EA9C-46E7-4359-868D-1BC7623C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62425"/>
            <a:ext cx="114300" cy="723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3347C-3EFD-4A69-A7A3-FA193D5A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19525"/>
            <a:ext cx="114300" cy="1066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DDF668-0E98-462D-B0C5-11EA8322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33825"/>
            <a:ext cx="114300" cy="952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92CB0D-CFF3-4DC5-84F5-E3A7A0A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29025"/>
            <a:ext cx="1143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F846F4-A95B-43AD-A20E-816ECFA5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62375"/>
            <a:ext cx="114300" cy="1123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18DD90-2433-4ECF-99DE-09546D35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76625"/>
            <a:ext cx="114300" cy="1409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C9950A-DEB9-4ABA-8AA3-55F2412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533775"/>
            <a:ext cx="114300" cy="1352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20D664-94F2-4251-98A7-66BA04A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381375"/>
            <a:ext cx="114300" cy="1504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32A79E-97E4-42B4-A1C7-A4E12160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009747-3A70-45D4-A6A2-9859E43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3554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6D8E6-F250-4BED-8899-F6114240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DEB44-0242-4182-A04F-BB970B38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1F36"/>
                </a:solidFill>
              </a:defRPr>
            </a:pPr>
            <a:r>
              <a:rPr sz="3225" b="1" i="0">
                <a:solidFill>
                  <a:srgbClr val="0B1F36"/>
                </a:solidFill>
              </a:rPr>
              <a:t>Cooperative finance breaks when operations live outside the ledger.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9748C-EC8E-437E-BF69-02D2D3A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F1175-463B-4E71-B847-147852FA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A70A1-226E-49BC-A819-DA07B814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12CFB-735D-4DF1-8057-D438D174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B3029-B053-42EC-884F-114B399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6"/>
                </a:solidFill>
              </a:defRPr>
            </a:pPr>
            <a:r>
              <a:rPr sz="1200" b="1" i="0">
                <a:solidFill>
                  <a:srgbClr val="0B1F36"/>
                </a:solidFill>
              </a:rPr>
              <a:t>Manual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04AA3-BC1C-410F-8BFF-792B05E8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6"/>
                </a:solidFill>
              </a:defRPr>
            </a:pPr>
            <a:r>
              <a:rPr sz="2025" b="1" i="0">
                <a:solidFill>
                  <a:srgbClr val="0B1F36"/>
                </a:solidFill>
              </a:rPr>
              <a:t>Balances drift across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164A1-A9F7-445F-9FF6-A7DC84F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30670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45D"/>
                </a:solidFill>
              </a:defRPr>
            </a:pPr>
            <a:r>
              <a:rPr sz="1425" b="0" i="0">
                <a:solidFill>
                  <a:srgbClr val="58645D"/>
                </a:solidFill>
              </a:rPr>
              <a:t>Staff spend time reconciling the same member, contribution, charge, and repayment story in several places.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329C-6DEB-4180-B3DF-526C1B2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B5335-3B5C-4C24-8589-0B71DA6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DF93-8CA5-41EC-BC50-33B92E4D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6A63A"/>
                </a:solidFill>
              </a:defRPr>
            </a:pPr>
            <a:r>
              <a:rPr sz="1200" b="1" i="0">
                <a:solidFill>
                  <a:srgbClr val="D6A63A"/>
                </a:solidFill>
              </a:rPr>
              <a:t>Loose approvals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3C059-0D38-4FE1-8738-0267ED77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6"/>
                </a:solidFill>
              </a:defRPr>
            </a:pPr>
            <a:r>
              <a:rPr sz="2025" b="1" i="0">
                <a:solidFill>
                  <a:srgbClr val="0B1F36"/>
                </a:solidFill>
              </a:rPr>
              <a:t>Approvals happen outside the books.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87330-525E-41E1-99EA-5230EF79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30670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45D"/>
                </a:solidFill>
              </a:defRPr>
            </a:pPr>
            <a:r>
              <a:rPr sz="1425" b="0" i="0">
                <a:solidFill>
                  <a:srgbClr val="58645D"/>
                </a:solidFill>
              </a:rPr>
              <a:t>Eligibility, liquidity, sign-off, and disbursement context can become hard to prove after the 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A1DF7-1E4F-47C5-A215-4EF1717F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70A25-D270-417D-BF8C-B1122C5E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A3AD6-B5D8-45EB-B9A5-0957994C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Member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1578A-1788-4D71-BA8F-0F59E49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6"/>
                </a:solidFill>
              </a:defRPr>
            </a:pPr>
            <a:r>
              <a:rPr sz="2025" b="1" i="0">
                <a:solidFill>
                  <a:srgbClr val="0B1F36"/>
                </a:solidFill>
              </a:rPr>
              <a:t>Members wait for clear answers.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EEE81-5E36-46CF-B8A0-254DD5D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30670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45D"/>
                </a:solidFill>
              </a:defRPr>
            </a:pPr>
            <a:r>
              <a:rPr sz="1425" b="0" i="0">
                <a:solidFill>
                  <a:srgbClr val="58645D"/>
                </a:solidFill>
              </a:rPr>
              <a:t>Savings, charges, financing progress, and statements need to be explainable without heroic admin effort.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C0657-04BC-4E97-94F7-5C6CE7D9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The customer pain is not just digitization. It is financial control, auditability, and trust.</a:t>
            </a:r>
          </a:p>
        </p:txBody>
      </p:sp>
    </p:spTree>
    <p:extLst>
      <p:ext uri="{BB962C8B-B14F-4D97-AF65-F5344CB8AC3E}">
        <p14:creationId xmlns:p14="http://schemas.microsoft.com/office/powerpoint/2010/main" val="1030885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B78BB-224D-4253-AD16-528C774A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148AA-5339-4FBE-9532-74C325F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1F36"/>
                </a:solidFill>
              </a:defRPr>
            </a:pPr>
            <a:r>
              <a:rPr sz="3300" b="1" i="0">
                <a:solidFill>
                  <a:srgbClr val="0B1F36"/>
                </a:solidFill>
              </a:rPr>
              <a:t>Halaalvest gives the cooperative one governed operating surface.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D20A2-50B5-436E-822A-300D4B5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D9832-4EC6-44DA-B2EF-2BEAC623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C0744-0011-4385-B421-D1B1560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A software platform for cooperatives, not a direct lender.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7C446-A2C3-44A7-BCD4-CA9367D5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BB4A9-96AE-40C8-98A5-6E986A7B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A7DFF-B589-4C87-BEB3-1B23BCDF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6"/>
                </a:solidFill>
              </a:defRPr>
            </a:pPr>
            <a:r>
              <a:rPr sz="2550" b="1" i="0">
                <a:solidFill>
                  <a:srgbClr val="0B1F36"/>
                </a:solidFill>
              </a:rPr>
              <a:t>Onboard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0E04F-9444-4A6C-859C-D22EB4C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Register members, collect KYC context, and keep signup approval-led.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842C8-C5B7-4875-93CE-55D15F8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80828-6F78-4519-8490-5277060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6A63A"/>
                </a:solidFill>
              </a:defRPr>
            </a:pPr>
            <a:r>
              <a:rPr sz="1650" b="1" i="0">
                <a:solidFill>
                  <a:srgbClr val="D6A63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E78C6-287A-460D-8E33-894640D0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6"/>
                </a:solidFill>
              </a:defRPr>
            </a:pPr>
            <a:r>
              <a:rPr sz="2550" b="1" i="0">
                <a:solidFill>
                  <a:srgbClr val="0B1F36"/>
                </a:solidFill>
              </a:rPr>
              <a:t>Collect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22773-6814-40F4-B5C8-DC0053C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Track member-specific commitments, direct deductions, indirect payments, charges, and voluntary extras.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8D5DC-88DC-4517-BAC4-EAFAB64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B09AA-64B8-4B59-82BD-34D2E6DB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24BED-3033-4FC5-B99C-81213235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6"/>
                </a:solidFill>
              </a:defRPr>
            </a:pPr>
            <a:r>
              <a:rPr sz="2550" b="1" i="0">
                <a:solidFill>
                  <a:srgbClr val="0B1F36"/>
                </a:solidFill>
              </a:rPr>
              <a:t>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A8D55-0397-4174-B7A8-84B8D82D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Route interest-free financing through eligibility, liquidity, approval, repayment, and follow-up.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F26FC-76CC-4C19-903A-8435F69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2A26A-0B8C-4718-A3C9-3B59B6EB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A0CC3-9A11-4EE8-8AFA-145B60DF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33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6"/>
                </a:solidFill>
              </a:defRPr>
            </a:pPr>
            <a:r>
              <a:rPr sz="2550" b="1" i="0">
                <a:solidFill>
                  <a:srgbClr val="0B1F36"/>
                </a:solidFill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1E6C0-9B52-4568-A534-0E8B281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Give staff and members statements, ledgers, activity history, and exportable operating reports.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55A66-ABAD-4567-A768-286AEA9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Result: a cooperative can run recurring finance work without hiding the logic behind balances.</a:t>
            </a:r>
          </a:p>
        </p:txBody>
      </p:sp>
    </p:spTree>
    <p:extLst>
      <p:ext uri="{BB962C8B-B14F-4D97-AF65-F5344CB8AC3E}">
        <p14:creationId xmlns:p14="http://schemas.microsoft.com/office/powerpoint/2010/main" val="616192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119D3C-E869-4E38-B55F-51BD6EB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920DA-A258-4889-B68E-0D07312F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1F36"/>
                </a:solidFill>
              </a:defRPr>
            </a:pPr>
            <a:r>
              <a:rPr sz="3300" b="1" i="0">
                <a:solidFill>
                  <a:srgbClr val="0B1F36"/>
                </a:solidFill>
              </a:rPr>
              <a:t>Every money movement is explicit, policy-backed, and reviewable.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E5E87-D52F-40D2-A39C-2E6CF0AD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F01C-5743-4718-82CC-FDF6C04A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61558-ADAB-4236-91A5-41D4EABE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5717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8B34F-42D8-4D6E-A5EC-ED5768EB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ACD64-15A9-4D46-A3E2-4B9B0E54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6"/>
                </a:solidFill>
              </a:defRPr>
            </a:pPr>
            <a:r>
              <a:rPr sz="2175" b="1" i="0">
                <a:solidFill>
                  <a:srgbClr val="0B1F36"/>
                </a:solidFill>
              </a:rPr>
              <a:t>Money received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CE76D-F0CD-4A16-BC97-950F11E9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45D"/>
                </a:solidFill>
              </a:defRPr>
            </a:pPr>
            <a:r>
              <a:rPr sz="1275" b="0" i="0">
                <a:solidFill>
                  <a:srgbClr val="58645D"/>
                </a:solidFill>
              </a:rPr>
              <a:t>Contribution, charge, repayment, or business profit enters as a visible 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E9FC3-6F17-4230-B8D3-D5357AF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639F3-1F06-4AE5-806B-57368C7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05050"/>
            <a:ext cx="25717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1EBFE-AAE9-4CE9-9E2B-92F64AB6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16334-6165-4B38-BA14-C3BEE15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6"/>
                </a:solidFill>
              </a:defRPr>
            </a:pPr>
            <a:r>
              <a:rPr sz="2175" b="1" i="0">
                <a:solidFill>
                  <a:srgbClr val="0B1F36"/>
                </a:solidFill>
              </a:rPr>
              <a:t>Allocation chosen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243AA-293D-4C43-9E17-2CBE9CEA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909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45D"/>
                </a:solidFill>
              </a:defRPr>
            </a:pPr>
            <a:r>
              <a:rPr sz="1275" b="0" i="0">
                <a:solidFill>
                  <a:srgbClr val="58645D"/>
                </a:solidFill>
              </a:rPr>
              <a:t>Savings, loan servicing, extra savings, and extra payoff stay separate.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E1532-3C28-4D7B-BED4-31D6FDEB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861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53AB4-264F-42B7-818F-DCFDABA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717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CF28E-79B8-45F7-8CA7-72A9677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7A3D"/>
                </a:solidFill>
              </a:defRPr>
            </a:pPr>
            <a:r>
              <a:rPr sz="1650" b="1" i="0">
                <a:solidFill>
                  <a:srgbClr val="1F7A3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BD4BE-E687-4329-8FDB-CA29F81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6"/>
                </a:solidFill>
              </a:defRPr>
            </a:pPr>
            <a:r>
              <a:rPr sz="2175" b="1" i="0">
                <a:solidFill>
                  <a:srgbClr val="0B1F36"/>
                </a:solidFill>
              </a:rPr>
              <a:t>Staff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9A3CD-95AE-4E0B-9561-6EBAF2C6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45D"/>
                </a:solidFill>
              </a:defRPr>
            </a:pPr>
            <a:r>
              <a:rPr sz="1275" b="0" i="0">
                <a:solidFill>
                  <a:srgbClr val="58645D"/>
                </a:solidFill>
              </a:rPr>
              <a:t>Policies, liquidity, approvals, waivers, and adjustments are attached to the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AA08F-A2B5-4FB0-932A-95DD398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C6C8E-CFB1-4976-B67B-485FA3F9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5717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9525">
            <a:solidFill>
              <a:srgbClr val="0B1F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5D397-508F-4D1A-8E69-4C6CD5AA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33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6A63A"/>
                </a:solidFill>
              </a:defRPr>
            </a:pPr>
            <a:r>
              <a:rPr sz="1650" b="1" i="0">
                <a:solidFill>
                  <a:srgbClr val="D6A63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03799-F21E-4D74-AD38-DB658CAB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Ledger posted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0FC3F-CB04-4F25-967F-A1AED0D9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CE7DE"/>
                </a:solidFill>
              </a:defRPr>
            </a:pPr>
            <a:r>
              <a:rPr sz="1275" b="0" i="0">
                <a:solidFill>
                  <a:srgbClr val="DCE7DE"/>
                </a:solidFill>
              </a:rPr>
              <a:t>Statements and reports explain how every balance was derived.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2694A-9A6F-4B5C-98E2-1195FC1C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F7264-2D49-486D-803C-6A7E1703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6"/>
                </a:solidFill>
              </a:defRPr>
            </a:pPr>
            <a:r>
              <a:rPr sz="1650" b="1" i="0">
                <a:solidFill>
                  <a:srgbClr val="0B1F36"/>
                </a:solidFill>
              </a:rPr>
              <a:t>Guardrail: no time-based interest, compounding interest, penalty interest, or hidden interest-like fees.</a:t>
            </a:r>
          </a:p>
        </p:txBody>
      </p:sp>
    </p:spTree>
    <p:extLst>
      <p:ext uri="{BB962C8B-B14F-4D97-AF65-F5344CB8AC3E}">
        <p14:creationId xmlns:p14="http://schemas.microsoft.com/office/powerpoint/2010/main" val="235073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AF4AB-8D4C-459D-B620-921E3D5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B7F63-ED28-46FF-AB93-07F031CE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6"/>
                </a:solidFill>
              </a:defRPr>
            </a:pPr>
            <a:r>
              <a:rPr sz="3150" b="1" i="0">
                <a:solidFill>
                  <a:srgbClr val="0B1F36"/>
                </a:solidFill>
              </a:rPr>
              <a:t>The pilot can start with the workflows admins already run every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0211E-723C-4394-B06D-07BD3B9B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DF07A-8ECE-4BF8-9835-9EB788E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114550"/>
          <a:ext xmlns:a="http://schemas.openxmlformats.org/drawingml/2006/main" cx="7715250" cy="3390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18509"/>
                <a:gridCol w="2758786"/>
                <a:gridCol w="2337955"/>
              </a:tblGrid>
              <a:tr h="565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Workflow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the pilot proves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Customer value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6"/>
                          </a:solidFill>
                        </a:rPr>
                        <a:t>Member onboarding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Approval-led signup and member records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Cleaner intake</a:t>
                      </a:r>
                    </a:p>
                  </a:txBody>
                  <a:tcPr marL="91440" marR="91440" marT="45720" marB="45720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6"/>
                          </a:solidFill>
                        </a:rPr>
                        <a:t>Contribution cycle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Commitments, staged records, and posting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Fewer ledger gaps</a:t>
                      </a:r>
                    </a:p>
                  </a:txBody>
                  <a:tcPr marL="91440" marR="91440" marT="45720" marB="45720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6"/>
                          </a:solidFill>
                        </a:rPr>
                        <a:t>Interest-free financing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Eligibility, liquidity, approval, repayment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Safer decisions</a:t>
                      </a:r>
                    </a:p>
                  </a:txBody>
                  <a:tcPr marL="91440" marR="91440" marT="45720" marB="45720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6"/>
                          </a:solidFill>
                        </a:rPr>
                        <a:t>Charges and statements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Explicit charges and explainable 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Member clarity</a:t>
                      </a:r>
                    </a:p>
                  </a:txBody>
                  <a:tcPr marL="91440" marR="91440" marT="45720" marB="45720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6"/>
                          </a:solidFill>
                        </a:rPr>
                        <a:t>Reports and audit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Exportable statements and review trail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8645D"/>
                          </a:solidFill>
                        </a:rPr>
                        <a:t>Governance comfort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6F309-F24E-4749-BCED-31EB5DFC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819400" cy="33909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C5C29-306C-42B6-AB60-22ECC13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7A3D"/>
                </a:solidFill>
              </a:defRPr>
            </a:pPr>
            <a:r>
              <a:rPr sz="1800" b="1" i="0">
                <a:solidFill>
                  <a:srgbClr val="1F7A3D"/>
                </a:solidFill>
              </a:rPr>
              <a:t>Pilot 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FA20D-A275-44FA-9AA3-501BFEF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6"/>
                </a:solidFill>
              </a:defRPr>
            </a:pPr>
            <a:r>
              <a:rPr sz="1950" b="1" i="0">
                <a:solidFill>
                  <a:srgbClr val="0B1F36"/>
                </a:solidFill>
              </a:rPr>
              <a:t>Start narrow. Validate real records. Expand only after the monthly cycle is explainable.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F224F-A5FF-4D4A-8D12-6C936540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45D"/>
                </a:solidFill>
              </a:defRPr>
            </a:pPr>
            <a:r>
              <a:rPr sz="1200" b="0" i="0">
                <a:solidFill>
                  <a:srgbClr val="58645D"/>
                </a:solidFill>
              </a:rPr>
              <a:t>No invented traction claims. The meeting should confirm fit, scope, and rollout risk.</a:t>
            </a:r>
          </a:p>
        </p:txBody>
      </p:sp>
    </p:spTree>
    <p:extLst>
      <p:ext uri="{BB962C8B-B14F-4D97-AF65-F5344CB8AC3E}">
        <p14:creationId xmlns:p14="http://schemas.microsoft.com/office/powerpoint/2010/main" val="580013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6EE04-3FA8-4658-AB74-4D52936B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5E66D-262A-4E1A-A539-EE4FC15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14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1F36"/>
                </a:solidFill>
              </a:defRPr>
            </a:pPr>
            <a:r>
              <a:rPr sz="3300" b="1" i="0">
                <a:solidFill>
                  <a:srgbClr val="0B1F36"/>
                </a:solidFill>
              </a:rPr>
              <a:t>A focused pilot proves operational fit before broad rollout.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864E9-0B8B-410B-BF47-3DCD6B2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8731-346E-4B95-A5EE-90D26B1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932AC-15DF-4518-8DC7-AC7A514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623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F219-488C-4E76-A676-A7D485C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7566D-C839-4B89-996B-6E2E833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6"/>
                </a:solidFill>
              </a:defRPr>
            </a:pPr>
            <a:r>
              <a:rPr sz="2400" b="1" i="0">
                <a:solidFill>
                  <a:srgbClr val="0B1F36"/>
                </a:solidFill>
              </a:rPr>
              <a:t>Configure the cooperative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52DAD-1116-41DC-B80A-8939F857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45D"/>
                </a:solidFill>
              </a:defRPr>
            </a:pPr>
            <a:r>
              <a:rPr sz="1275" b="0" i="0">
                <a:solidFill>
                  <a:srgbClr val="58645D"/>
                </a:solidFill>
              </a:rPr>
              <a:t>Rules, roles, member categories, contribution plans, charge definitions, and financing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D5E53-C0F4-4456-8D32-71895A2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623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CA85F-CF8B-4AA1-869D-3B3E7DB8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Week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2DFBD-0CDD-4B74-9BEF-355BFE18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6"/>
                </a:solidFill>
              </a:defRPr>
            </a:pPr>
            <a:r>
              <a:rPr sz="2400" b="1" i="0">
                <a:solidFill>
                  <a:srgbClr val="0B1F36"/>
                </a:solidFill>
              </a:rPr>
              <a:t>Run real admin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F4ED8-ABF0-43E7-95EB-868C953F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45D"/>
                </a:solidFill>
              </a:defRPr>
            </a:pPr>
            <a:r>
              <a:rPr sz="1275" b="0" i="0">
                <a:solidFill>
                  <a:srgbClr val="58645D"/>
                </a:solidFill>
              </a:rPr>
              <a:t>Import or enter a first member group, post a sample contribution cycle, and review approvals.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7B212-38A0-4CEC-A901-8CE14445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623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B3B61-BF20-4633-BB6D-0BA5037C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6A63A"/>
                </a:solidFill>
              </a:defRPr>
            </a:pPr>
            <a:r>
              <a:rPr sz="1350" b="1" i="0">
                <a:solidFill>
                  <a:srgbClr val="D6A63A"/>
                </a:solidFill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7803B-8320-4843-B5C9-7B85CB23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6"/>
                </a:solidFill>
              </a:defRPr>
            </a:pPr>
            <a:r>
              <a:rPr sz="2400" b="1" i="0">
                <a:solidFill>
                  <a:srgbClr val="0B1F36"/>
                </a:solidFill>
              </a:rPr>
              <a:t>Decide expansion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29500-5A30-4BC0-BC48-31D620D7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45D"/>
                </a:solidFill>
              </a:defRPr>
            </a:pPr>
            <a:r>
              <a:rPr sz="1275" b="0" i="0">
                <a:solidFill>
                  <a:srgbClr val="58645D"/>
                </a:solidFill>
              </a:rPr>
              <a:t>Confirm workflow fit, required reports, onboarding gaps, and rollout sequence.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1BE61-5847-4E4C-8328-6521E912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6C978-2054-4628-92AB-65EA646D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Pilot success = one clean monthly operating cycle with explainable balances and visible approval history.</a:t>
            </a:r>
          </a:p>
        </p:txBody>
      </p:sp>
    </p:spTree>
    <p:extLst>
      <p:ext uri="{BB962C8B-B14F-4D97-AF65-F5344CB8AC3E}">
        <p14:creationId xmlns:p14="http://schemas.microsoft.com/office/powerpoint/2010/main" val="310507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067F3-65A0-4E4E-8311-410708D9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F6E1C-1065-4ED9-BEFA-F599BD8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1F36"/>
                </a:solidFill>
              </a:defRPr>
            </a:pPr>
            <a:r>
              <a:rPr sz="3300" b="1" i="0">
                <a:solidFill>
                  <a:srgbClr val="0B1F36"/>
                </a:solidFill>
              </a:rPr>
              <a:t>Tomorrow is about learning the rules behind their money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3EF9E-CD5C-49F3-A629-0F574E3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D932A-9261-4A15-85E5-238C0CA5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2BAA6-4236-4E67-82EC-D4760417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E8EDC-18FD-4381-8AEE-DF4D9252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64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F3C25-A47B-4F17-B71C-9C6CC02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Contribution reality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75FB6-2400-4C98-9DBB-C747407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45D"/>
                </a:solidFill>
              </a:defRPr>
            </a:pPr>
            <a:r>
              <a:rPr sz="1500" b="0" i="0">
                <a:solidFill>
                  <a:srgbClr val="58645D"/>
                </a:solidFill>
              </a:rPr>
              <a:t>How do members pay today, and what exceptions create most admin work?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D938B-D538-406E-98C9-B8D7DFF2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78E9A-5B5E-419A-8563-27601106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E86C0-848E-410A-84B2-933B393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81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Approval 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3CC95-E838-4778-A81F-7A7C567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45D"/>
                </a:solidFill>
              </a:defRPr>
            </a:pPr>
            <a:r>
              <a:rPr sz="1500" b="0" i="0">
                <a:solidFill>
                  <a:srgbClr val="58645D"/>
                </a:solidFill>
              </a:rPr>
              <a:t>Who must approve membership, charges, financing, waivers, and disbursements?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322E8-105C-4D78-A948-2DE678D3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C58E2-DA1A-44CF-9CC8-530A1A68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63B41-2019-411F-ADFC-DF127A9E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0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Financing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217F8-B4F1-4033-A454-2B43FB7C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052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45D"/>
                </a:solidFill>
              </a:defRPr>
            </a:pPr>
            <a:r>
              <a:rPr sz="1500" b="0" i="0">
                <a:solidFill>
                  <a:srgbClr val="58645D"/>
                </a:solidFill>
              </a:rPr>
              <a:t>How do caps, terms, guarantors, liquidity, and repayment follow-up work in practice?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8B76B-B228-41E4-86C0-750DE851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31B63-3373-4ED7-8773-9372169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543B3-F60C-4E55-B85F-D2B0AAE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29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Reporting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FCEF2-A3B9-4D6C-8259-33CA7E63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45D"/>
                </a:solidFill>
              </a:defRPr>
            </a:pPr>
            <a:r>
              <a:rPr sz="1500" b="0" i="0">
                <a:solidFill>
                  <a:srgbClr val="58645D"/>
                </a:solidFill>
              </a:rPr>
              <a:t>Which reports do members, executives, auditors, and finance officers actually request?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C59D6-FBBE-4CD8-AC5D-501B504E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A3D"/>
                </a:solidFill>
              </a:defRPr>
            </a:pPr>
            <a:r>
              <a:rPr sz="1350" b="1" i="0">
                <a:solidFill>
                  <a:srgbClr val="1F7A3D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68846-5DBA-47BA-A282-F7BCFDE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720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5A754-4CF6-4967-A562-FF67692D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53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6"/>
                </a:solidFill>
              </a:defRPr>
            </a:pPr>
            <a:r>
              <a:rPr sz="1800" b="1" i="0">
                <a:solidFill>
                  <a:srgbClr val="0B1F36"/>
                </a:solidFill>
              </a:rPr>
              <a:t>Migration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898F0-4B4A-4E4B-B274-7A24B9B1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645D"/>
                </a:solidFill>
              </a:defRPr>
            </a:pPr>
            <a:r>
              <a:rPr sz="1500" b="0" i="0">
                <a:solidFill>
                  <a:srgbClr val="58645D"/>
                </a:solidFill>
              </a:rPr>
              <a:t>What records must be trusted before the cooperative can move off its current tools?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E7955-626B-4B51-B776-B710E15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6A40A-3C25-4E92-B957-2A21A0B0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9287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14751-C750-48EF-B730-BABBFCF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A3D"/>
                </a:solidFill>
              </a:defRPr>
            </a:pPr>
            <a:r>
              <a:rPr sz="1200" b="1" i="0">
                <a:solidFill>
                  <a:srgbClr val="1F7A3D"/>
                </a:solidFill>
              </a:rPr>
              <a:t>Customer pilot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47365-CABE-4CF5-AB2F-DBBE9B95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0B1F36"/>
                </a:solidFill>
              </a:defRPr>
            </a:pPr>
            <a:r>
              <a:rPr sz="3375" b="1" i="0">
                <a:solidFill>
                  <a:srgbClr val="0B1F36"/>
                </a:solidFill>
              </a:rPr>
              <a:t>If the workflows match, we start the pilot setup.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B04FE-1384-4204-8B53-C07DF21B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A7275-99D7-481F-B030-C55AE40D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E3224-BC2A-4754-BC82-72CEF5F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E8B3A-6B0D-43AB-8D4A-E3957C4A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747CA-09CD-4B49-95AE-9AAEAD41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6"/>
                </a:solidFill>
              </a:defRPr>
            </a:pPr>
            <a:r>
              <a:rPr sz="2175" b="1" i="0">
                <a:solidFill>
                  <a:srgbClr val="0B1F36"/>
                </a:solidFill>
              </a:rPr>
              <a:t>Choose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5D20A-32CD-4537-87E7-27ED9CF1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Pick one cooperative, one admin lead, one finance lead, and one operating cycle.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B45AC-743C-450F-9CC3-6E6F9FF0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562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25CE0-553B-4E52-AB47-F6CB2DFE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7687E-9C62-497E-BD70-0A1EE6E5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6"/>
                </a:solidFill>
              </a:defRPr>
            </a:pPr>
            <a:r>
              <a:rPr sz="2175" b="1" i="0">
                <a:solidFill>
                  <a:srgbClr val="0B1F36"/>
                </a:solidFill>
              </a:rPr>
              <a:t>Share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FDCC6-3FA6-4088-B756-E12B3C89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Provide sample members, contribution history, charges, and financing cases for setup.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E438F-9AC1-4CBE-8403-25B933B6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562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8D3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FA477-0D4C-45E9-A763-FECD54F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AD553-21E7-452A-B99F-4C9259B8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6"/>
                </a:solidFill>
              </a:defRPr>
            </a:pPr>
            <a:r>
              <a:rPr sz="2175" b="1" i="0">
                <a:solidFill>
                  <a:srgbClr val="0B1F36"/>
                </a:solidFill>
              </a:rPr>
              <a:t>Confirm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278B9-5E93-4371-8557-1C9B69D5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645D"/>
                </a:solidFill>
              </a:defRPr>
            </a:pPr>
            <a:r>
              <a:rPr sz="1350" b="0" i="0">
                <a:solidFill>
                  <a:srgbClr val="58645D"/>
                </a:solidFill>
              </a:rPr>
              <a:t>Agree what must be true before expanding to more members or workflows.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AE51-F90D-4ED4-94D6-A80FBB5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F36"/>
                </a:solidFill>
              </a:defRPr>
            </a:pPr>
            <a:r>
              <a:rPr sz="2250" b="1" i="0">
                <a:solidFill>
                  <a:srgbClr val="0B1F36"/>
                </a:solidFill>
              </a:rPr>
              <a:t>The ask tomorrow is simple: validate the first operating cycle and leave with a pilot owner.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C3D90-709B-4B69-B399-67C4EE6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7A3D"/>
                </a:solidFill>
              </a:defRPr>
            </a:pPr>
            <a:r>
              <a:rPr sz="1800" b="1" i="0">
                <a:solidFill>
                  <a:srgbClr val="1F7A3D"/>
                </a:solidFill>
              </a:rPr>
              <a:t>Halaalvest is built to make cooperative finance safer to run, easier to explain, and ready to scale carefully.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51C29-B45A-4A28-A583-7163FCD3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6"/>
                </a:solidFill>
              </a:defRPr>
            </a:pPr>
            <a:r>
              <a:rPr sz="1125" b="1" i="0">
                <a:solidFill>
                  <a:srgbClr val="0B1F36"/>
                </a:solidFill>
              </a:rPr>
              <a:t>Halaalvest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CC266-1293-4BE6-9C18-3489F06B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48E"/>
                </a:solidFill>
              </a:defRPr>
            </a:pPr>
            <a:r>
              <a:rPr sz="1125" b="0" i="0">
                <a:solidFill>
                  <a:srgbClr val="8A948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1181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2026-07-02T17:47:56.1320000Z</dcterms:created>
  <dcterms:modified xsi:type="dcterms:W3CDTF">2026-07-02T17:47:56.1320000Z</dcterms:modified>
</coreProperties>
</file>